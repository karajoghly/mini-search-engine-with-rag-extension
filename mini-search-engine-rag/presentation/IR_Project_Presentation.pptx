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9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1F392-C46D-45D7-841E-D4A610F8AC8E}" v="617" dt="2026-05-02T23:45:19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7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73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3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6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19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1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3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8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7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4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9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7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35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>
                <a:latin typeface="Arial"/>
                <a:ea typeface="+mj-lt"/>
                <a:cs typeface="Arial"/>
              </a:rPr>
              <a:t>Mini Search Engine with RAG Extension</a:t>
            </a:r>
            <a:endParaRPr lang="ar-SA">
              <a:latin typeface="Aptos Display" panose="020F0302020204030204"/>
              <a:cs typeface="Times New Roman" panose="02020603050405020304" pitchFamily="18" charset="0"/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912629" y="2848677"/>
            <a:ext cx="7102653" cy="2445355"/>
          </a:xfrm>
        </p:spPr>
        <p:txBody>
          <a:bodyPr vert="horz" lIns="91440" tIns="45720" rIns="91440" bIns="45720" rtlCol="1" anchor="t">
            <a:noAutofit/>
          </a:bodyPr>
          <a:lstStyle/>
          <a:p>
            <a:r>
              <a:rPr lang="ar-SA" sz="1400">
                <a:ea typeface="+mn-lt"/>
                <a:cs typeface="+mn-lt"/>
              </a:rPr>
              <a:t>Information Retrieval – AI35</a:t>
            </a:r>
            <a:endParaRPr lang="ar-SA" sz="1400">
              <a:ea typeface="+mn-lt"/>
              <a:cs typeface="Arial" panose="020B0604020202020204" pitchFamily="34" charset="0"/>
            </a:endParaRPr>
          </a:p>
          <a:p>
            <a:r>
              <a:rPr lang="ar-SA" sz="1400">
                <a:ea typeface="+mn-lt"/>
                <a:cs typeface="+mn-lt"/>
              </a:rPr>
              <a:t>Cranfield Dataset</a:t>
            </a:r>
            <a:endParaRPr lang="ar-SA" sz="1400" dirty="0">
              <a:ea typeface="+mn-lt"/>
              <a:cs typeface="+mn-lt"/>
            </a:endParaRPr>
          </a:p>
          <a:p>
            <a:endParaRPr lang="ar-SA" sz="1400" dirty="0">
              <a:ea typeface="+mn-lt"/>
              <a:cs typeface="+mn-lt"/>
            </a:endParaRPr>
          </a:p>
          <a:p>
            <a:r>
              <a:rPr lang="ar-SA" sz="1400">
                <a:ea typeface="+mn-lt"/>
                <a:cs typeface="+mn-lt"/>
              </a:rPr>
              <a:t>Prepared by:</a:t>
            </a:r>
            <a:endParaRPr lang="ar-SA" sz="1400"/>
          </a:p>
          <a:p>
            <a:r>
              <a:rPr lang="ar-SA" sz="1400">
                <a:ea typeface="+mn-lt"/>
                <a:cs typeface="+mn-lt"/>
              </a:rPr>
              <a:t>Nour Karajoghly :170509  </a:t>
            </a:r>
            <a:endParaRPr lang="ar-SA" sz="1400" dirty="0">
              <a:ea typeface="+mn-lt"/>
              <a:cs typeface="+mn-lt"/>
            </a:endParaRPr>
          </a:p>
          <a:p>
            <a:r>
              <a:rPr lang="ar-SA" sz="1400">
                <a:ea typeface="+mn-lt"/>
                <a:cs typeface="+mn-lt"/>
              </a:rPr>
              <a:t>Hamza Diabat :176141</a:t>
            </a:r>
            <a:endParaRPr lang="ar-SA" sz="1400" dirty="0"/>
          </a:p>
          <a:p>
            <a:endParaRPr lang="ar-SA" sz="1400" dirty="0">
              <a:ea typeface="+mn-lt"/>
              <a:cs typeface="+mn-lt"/>
            </a:endParaRPr>
          </a:p>
          <a:p>
            <a:r>
              <a:rPr lang="ar-SA" sz="1400">
                <a:ea typeface="+mn-lt"/>
                <a:cs typeface="+mn-lt"/>
              </a:rPr>
              <a:t>Submitted to:</a:t>
            </a:r>
            <a:endParaRPr lang="ar-SA" sz="1400"/>
          </a:p>
          <a:p>
            <a:r>
              <a:rPr lang="ar-SA" sz="1400">
                <a:ea typeface="+mn-lt"/>
                <a:cs typeface="+mn-lt"/>
              </a:rPr>
              <a:t>Dr. Abdullah Al-Amaren</a:t>
            </a:r>
            <a:endParaRPr lang="ar-SA" sz="1400"/>
          </a:p>
          <a:p>
            <a:endParaRPr lang="ar-SA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057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C6A4A9-0E74-C1FC-FB38-05B36568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Project Objective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E3013EC-2F52-3255-0BE8-56C2F9E2A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ar-SA">
                <a:ea typeface="+mn-lt"/>
                <a:cs typeface="+mn-lt"/>
              </a:rPr>
              <a:t>• Build a mini search engine using classical Information Retrieval techniques.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Retrieve and rank relevant Cranfield documents using TF-IDF and cosine similarity.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Extend the system with a simple RAG component to generate a natural-language answer from the top retrieved documents.</a:t>
            </a:r>
          </a:p>
          <a:p>
            <a:r>
              <a:rPr lang="ar-SA">
                <a:ea typeface="+mn-lt"/>
                <a:cs typeface="+mn-lt"/>
              </a:rPr>
              <a:t>The system first finds relevant documents, then uses them to generate a useful answer.</a:t>
            </a:r>
            <a:endParaRPr lang="ar-SA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CCD7148-A07E-F356-495E-4E614038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07B4-231D-4723-8213-260D715113E2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6A19167-B42E-A45E-EBF1-BD3A78A6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9640160-F58F-FE93-CD46-DDA855AA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74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F4CD2BA-067D-B2B8-8A27-6D53245F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Cranfield Dataset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840B340-BA35-7FF2-CE4F-13A53890C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The project uses the Cranfield dataset, a benchmark dataset in Information Retrieval.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collection contains 1400 documents.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Each document includes title and abstract fields.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system uses title + abstract as the document content for indexing.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dataset also includes queries and relevance judgments for evaluation.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4B6C5CC-A6A0-A588-7560-01B5D723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28AF-F3EB-4FB6-8718-8E38DEE44900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24BBFED-DE25-CEF3-D26D-73C1F12A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2C29BCA-5D48-0658-B82C-30363C19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0C62599F-F243-350D-1B07-2EF2085AC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76690"/>
              </p:ext>
            </p:extLst>
          </p:nvPr>
        </p:nvGraphicFramePr>
        <p:xfrm>
          <a:off x="18464151" y="3202329"/>
          <a:ext cx="6168322" cy="150712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84161">
                  <a:extLst>
                    <a:ext uri="{9D8B030D-6E8A-4147-A177-3AD203B41FA5}">
                      <a16:colId xmlns:a16="http://schemas.microsoft.com/office/drawing/2014/main" val="2896457534"/>
                    </a:ext>
                  </a:extLst>
                </a:gridCol>
                <a:gridCol w="3084161">
                  <a:extLst>
                    <a:ext uri="{9D8B030D-6E8A-4147-A177-3AD203B41FA5}">
                      <a16:colId xmlns:a16="http://schemas.microsoft.com/office/drawing/2014/main" val="510060242"/>
                    </a:ext>
                  </a:extLst>
                </a:gridCol>
              </a:tblGrid>
              <a:tr h="394607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13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12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42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281985"/>
                  </a:ext>
                </a:extLst>
              </a:tr>
            </a:tbl>
          </a:graphicData>
        </a:graphic>
      </p:graphicFrame>
      <p:graphicFrame>
        <p:nvGraphicFramePr>
          <p:cNvPr id="9" name="جدول 8">
            <a:extLst>
              <a:ext uri="{FF2B5EF4-FFF2-40B4-BE49-F238E27FC236}">
                <a16:creationId xmlns:a16="http://schemas.microsoft.com/office/drawing/2014/main" id="{DF36EA42-8C16-5D55-B88D-EFA9B8F03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579860"/>
              </p:ext>
            </p:extLst>
          </p:nvPr>
        </p:nvGraphicFramePr>
        <p:xfrm>
          <a:off x="6769280" y="154329"/>
          <a:ext cx="5124098" cy="223829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562049">
                  <a:extLst>
                    <a:ext uri="{9D8B030D-6E8A-4147-A177-3AD203B41FA5}">
                      <a16:colId xmlns:a16="http://schemas.microsoft.com/office/drawing/2014/main" val="1726595831"/>
                    </a:ext>
                  </a:extLst>
                </a:gridCol>
                <a:gridCol w="2562049">
                  <a:extLst>
                    <a:ext uri="{9D8B030D-6E8A-4147-A177-3AD203B41FA5}">
                      <a16:colId xmlns:a16="http://schemas.microsoft.com/office/drawing/2014/main" val="1067400395"/>
                    </a:ext>
                  </a:extLst>
                </a:gridCol>
              </a:tblGrid>
              <a:tr h="367392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File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Description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499460"/>
                  </a:ext>
                </a:extLst>
              </a:tr>
              <a:tr h="432532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cran.all.1400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Document collection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50570"/>
                  </a:ext>
                </a:extLst>
              </a:tr>
              <a:tr h="248475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cran.qry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User queries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940129"/>
                  </a:ext>
                </a:extLst>
              </a:tr>
              <a:tr h="432532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cran.qrel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Relevance judgments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035948"/>
                  </a:ext>
                </a:extLst>
              </a:tr>
              <a:tr h="432532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cranqrel.readme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Relevance scale description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381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67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46ECA25-36F4-CDEF-A866-46FB448D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0816"/>
            <a:ext cx="10363200" cy="1187570"/>
          </a:xfrm>
        </p:spPr>
        <p:txBody>
          <a:bodyPr/>
          <a:lstStyle/>
          <a:p>
            <a:r>
              <a:rPr lang="ar-SA">
                <a:ea typeface="+mj-lt"/>
                <a:cs typeface="+mj-lt"/>
              </a:rPr>
              <a:t>System Architecture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97E57F7-D38A-B9A9-03E5-B6AD50E6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961147"/>
            <a:ext cx="10363200" cy="37877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ar-SA" sz="1200">
                <a:ea typeface="+mn-lt"/>
                <a:cs typeface="+mn-lt"/>
              </a:rPr>
              <a:t>Dataset Parsing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Text Preprocessing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Inverted Index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TF-IDF Weighting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Cosine Similarity Ranking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Top-k Retrieved Documents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        ↓</a:t>
            </a:r>
            <a:endParaRPr lang="ar-SA" sz="1200"/>
          </a:p>
          <a:p>
            <a:r>
              <a:rPr lang="ar-SA" sz="1200">
                <a:ea typeface="+mn-lt"/>
                <a:cs typeface="+mn-lt"/>
              </a:rPr>
              <a:t>RAG Answer Generation</a:t>
            </a:r>
            <a:endParaRPr lang="ar-SA" sz="120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E530AD8-E554-A9F5-D9B5-3FECA1DA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981F6-2C22-4DF4-A0F9-A42BA01297DA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849C3D4-3C6C-EC2F-DA37-A013EF38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BA355CA-A50C-2429-1048-033EDA08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E623F89E-FCAF-8E61-BACF-6014942FFC31}"/>
              </a:ext>
            </a:extLst>
          </p:cNvPr>
          <p:cNvSpPr txBox="1"/>
          <p:nvPr/>
        </p:nvSpPr>
        <p:spPr>
          <a:xfrm>
            <a:off x="6263211" y="1298123"/>
            <a:ext cx="525128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• The system is implemented as a step-by-step pipeline.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• Each module handles a specific task.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• The same preprocessing is applied to both documents and queries.</a:t>
            </a:r>
            <a:endParaRPr lang="ar-SA"/>
          </a:p>
        </p:txBody>
      </p:sp>
      <p:graphicFrame>
        <p:nvGraphicFramePr>
          <p:cNvPr id="8" name="جدول 7">
            <a:extLst>
              <a:ext uri="{FF2B5EF4-FFF2-40B4-BE49-F238E27FC236}">
                <a16:creationId xmlns:a16="http://schemas.microsoft.com/office/drawing/2014/main" id="{DE2928CF-BCE3-2EB5-8175-56227FF2D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277681"/>
              </p:ext>
            </p:extLst>
          </p:nvPr>
        </p:nvGraphicFramePr>
        <p:xfrm>
          <a:off x="6267949" y="3568860"/>
          <a:ext cx="4784716" cy="2966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784716">
                  <a:extLst>
                    <a:ext uri="{9D8B030D-6E8A-4147-A177-3AD203B41FA5}">
                      <a16:colId xmlns:a16="http://schemas.microsoft.com/office/drawing/2014/main" val="3272664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Main Python Files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53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parser.py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905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preprocessing.py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06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indexer.py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09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ranking.py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499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evaluation.py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93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rag.py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4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main.py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39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F04AB74-C0A5-BB65-AA93-14E890C3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Text Preprocessing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89D36B8-3510-8F3B-C058-CAD2E7753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298" y="2144412"/>
            <a:ext cx="10363200" cy="33826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ar-SA" sz="1400">
                <a:ea typeface="+mn-lt"/>
                <a:cs typeface="+mn-lt"/>
              </a:rPr>
              <a:t>• The same preprocessing steps are applied to both documents and queries.</a:t>
            </a:r>
            <a:endParaRPr lang="ar-SA" sz="1400" dirty="0"/>
          </a:p>
          <a:p>
            <a:endParaRPr lang="ar-SA" sz="1400" dirty="0"/>
          </a:p>
          <a:p>
            <a:r>
              <a:rPr lang="ar-SA" sz="1400">
                <a:ea typeface="+mn-lt"/>
                <a:cs typeface="+mn-lt"/>
              </a:rPr>
              <a:t>• Lowercasing: converts all text to lowercase.</a:t>
            </a:r>
            <a:endParaRPr lang="ar-SA" sz="1400" dirty="0"/>
          </a:p>
          <a:p>
            <a:endParaRPr lang="ar-SA" sz="1400" dirty="0"/>
          </a:p>
          <a:p>
            <a:r>
              <a:rPr lang="ar-SA" sz="1400">
                <a:ea typeface="+mn-lt"/>
                <a:cs typeface="+mn-lt"/>
              </a:rPr>
              <a:t>• Tokenization: splits text into individual terms.</a:t>
            </a:r>
            <a:endParaRPr lang="ar-SA" sz="1400" dirty="0"/>
          </a:p>
          <a:p>
            <a:endParaRPr lang="ar-SA" sz="1400" dirty="0"/>
          </a:p>
          <a:p>
            <a:r>
              <a:rPr lang="ar-SA" sz="1400">
                <a:ea typeface="+mn-lt"/>
                <a:cs typeface="+mn-lt"/>
              </a:rPr>
              <a:t>• Removing non-alphabetic tokens: removes numbers, punctuation, and symbols.</a:t>
            </a:r>
            <a:endParaRPr lang="ar-SA" sz="1400" dirty="0"/>
          </a:p>
          <a:p>
            <a:endParaRPr lang="ar-SA" sz="1400" dirty="0"/>
          </a:p>
          <a:p>
            <a:r>
              <a:rPr lang="ar-SA" sz="1400">
                <a:ea typeface="+mn-lt"/>
                <a:cs typeface="+mn-lt"/>
              </a:rPr>
              <a:t>• Stopword removal: removes common words such as “the”, “is”, and “and”.</a:t>
            </a:r>
            <a:endParaRPr lang="ar-SA" sz="1400" dirty="0"/>
          </a:p>
          <a:p>
            <a:endParaRPr lang="ar-SA" sz="1400" dirty="0"/>
          </a:p>
          <a:p>
            <a:r>
              <a:rPr lang="ar-SA" sz="1400">
                <a:ea typeface="+mn-lt"/>
                <a:cs typeface="+mn-lt"/>
              </a:rPr>
              <a:t>• Stemming: uses Porter Stemmer to reduce words to a common root form.</a:t>
            </a:r>
            <a:endParaRPr lang="ar-SA" sz="140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4B97A22-E81B-4F89-D046-C8D4C300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E2E21-29C8-4EDC-BAB7-477A4FA63740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EDF6F36-A7C5-1F03-C1B1-556CF996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CC26E6A-076E-C61F-587F-F6816428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B42CCC6-D039-0CFA-4D83-A224D6A8A4A6}"/>
              </a:ext>
            </a:extLst>
          </p:cNvPr>
          <p:cNvSpPr txBox="1"/>
          <p:nvPr/>
        </p:nvSpPr>
        <p:spPr>
          <a:xfrm>
            <a:off x="7287069" y="2559789"/>
            <a:ext cx="527717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 b="1">
                <a:ea typeface="+mn-lt"/>
                <a:cs typeface="+mn-lt"/>
              </a:rPr>
              <a:t>Original text</a:t>
            </a:r>
            <a:r>
              <a:rPr lang="ar-SA">
                <a:ea typeface="+mn-lt"/>
                <a:cs typeface="+mn-lt"/>
              </a:rPr>
              <a:t>: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Aircraft engine efficiency is affected by turbine temperature.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 b="1">
                <a:ea typeface="+mn-lt"/>
                <a:cs typeface="+mn-lt"/>
              </a:rPr>
              <a:t>After preprocessing</a:t>
            </a:r>
            <a:r>
              <a:rPr lang="ar-SA">
                <a:ea typeface="+mn-lt"/>
                <a:cs typeface="+mn-lt"/>
              </a:rPr>
              <a:t>: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aircraft, engin, effici, affect, turbin, temperatur</a:t>
            </a: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4769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9879FC3-E7C9-8AE1-D5BF-FEA23D38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Inverted Index and TF-IDF Weighting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B7606AA-3988-0FE8-7C3A-DF5719526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An inverted index maps each term to the documents where it appears.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This helps the system quickly find documents that contain query terms.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Term Frequency (TF) counts how often a term appears in a document.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Inverse Document Frequency (IDF) gives higher weight to rare terms.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TF-IDF represents each document as a weighted vector.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3BB4A2C-F7A1-9EB1-D332-B697944C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4A6-6547-4C3A-A17F-312BBFB7F30C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26BD7CF-3767-C340-0998-215D0580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523C366-C87B-0068-2785-C00EEB06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1B54132-677D-B5D2-788A-DF4638470188}"/>
              </a:ext>
            </a:extLst>
          </p:cNvPr>
          <p:cNvSpPr txBox="1"/>
          <p:nvPr/>
        </p:nvSpPr>
        <p:spPr>
          <a:xfrm>
            <a:off x="8187216" y="2555917"/>
            <a:ext cx="41868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Example: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wing → Doc 1, Doc 12, Doc 51, Doc 184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engine → Doc 17, Doc 91, Doc 203</a:t>
            </a:r>
            <a:endParaRPr lang="ar-SA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E76A3325-74EF-DD13-E3F4-0C9AA6A1B5C1}"/>
              </a:ext>
            </a:extLst>
          </p:cNvPr>
          <p:cNvSpPr txBox="1"/>
          <p:nvPr/>
        </p:nvSpPr>
        <p:spPr>
          <a:xfrm>
            <a:off x="8397896" y="4361320"/>
            <a:ext cx="34448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IDF = log(N / df)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TF-IDF = TF × IDF</a:t>
            </a: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345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1DC7520-9606-FD6A-BAED-83F095C0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Cosine Similarity Ranking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22161DB-1B3B-1D62-474A-05748AE5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2559171"/>
            <a:ext cx="10363200" cy="338265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The user query is preprocessed using the same preprocessing steps.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query is converted into a TF-IDF vector.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Cosine similarity is calculated between the query vector and each document vector.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Documents are ranked from highest similarity score to lowest.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system returns the top-k most relevant documents.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E4D773C-EE56-794B-BA2A-6A6C07B1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8605-E741-4D78-B0E0-7E91295A232B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67D2982-67D3-8D4D-7063-EC44DB08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7932B2-ACF9-B684-4DC1-8A3C31C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658A3EE3-5E19-050E-7AED-19327A8E39E6}"/>
              </a:ext>
            </a:extLst>
          </p:cNvPr>
          <p:cNvSpPr txBox="1"/>
          <p:nvPr/>
        </p:nvSpPr>
        <p:spPr>
          <a:xfrm>
            <a:off x="8038662" y="1522666"/>
            <a:ext cx="35847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f-ZA"/>
              <a:t>Query: aircraft engine efficiency Top Results: </a:t>
            </a:r>
            <a:endParaRPr lang="ar-SA"/>
          </a:p>
          <a:p>
            <a:pPr algn="l"/>
            <a:r>
              <a:rPr lang="af-ZA"/>
              <a:t>. Doc 51 → Score: 0.2744 . </a:t>
            </a:r>
            <a:endParaRPr lang="ar-SA"/>
          </a:p>
          <a:p>
            <a:pPr algn="l"/>
            <a:r>
              <a:rPr lang="af-ZA"/>
              <a:t> Doc 184 → Score: 0.2573.</a:t>
            </a:r>
            <a:endParaRPr lang="ar-SA"/>
          </a:p>
          <a:p>
            <a:pPr algn="l"/>
            <a:r>
              <a:rPr lang="af-ZA"/>
              <a:t> Doc 746 → Score: 0.2363</a:t>
            </a:r>
            <a:endParaRPr lang="ar-SA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E46F45A3-8233-DF65-FDA7-AE5769387110}"/>
              </a:ext>
            </a:extLst>
          </p:cNvPr>
          <p:cNvSpPr txBox="1"/>
          <p:nvPr/>
        </p:nvSpPr>
        <p:spPr>
          <a:xfrm>
            <a:off x="6998908" y="996063"/>
            <a:ext cx="53704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Higher cosine similarity = more relevant document</a:t>
            </a:r>
          </a:p>
        </p:txBody>
      </p:sp>
    </p:spTree>
    <p:extLst>
      <p:ext uri="{BB962C8B-B14F-4D97-AF65-F5344CB8AC3E}">
        <p14:creationId xmlns:p14="http://schemas.microsoft.com/office/powerpoint/2010/main" val="385585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4312B9-C5D9-5A9A-2B53-046B6BB7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Evaluation: MAP and NDCG@10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64C52E1-7D3C-5E01-A788-23995EBE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The system is evaluated using the relevance judgments from cran.qrel.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MAP is used with binary relevance.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NDCG@10 is used with graded relevance.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Documents not listed in qrel are treated as non-relevant.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Cranfield relevance scale is reversed, where 1 means highest relevance.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9BD4AF-71F0-9815-ED86-02D976FC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46A-B16F-4E83-822C-4E6B7482086D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EFB3A90-94A3-C2B4-6425-73855107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F94A348-B312-FC07-89D7-94EF319F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06355011-3401-7BF8-4C7C-139B70DA8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57229"/>
              </p:ext>
            </p:extLst>
          </p:nvPr>
        </p:nvGraphicFramePr>
        <p:xfrm>
          <a:off x="8315091" y="2324582"/>
          <a:ext cx="3681684" cy="1112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40842">
                  <a:extLst>
                    <a:ext uri="{9D8B030D-6E8A-4147-A177-3AD203B41FA5}">
                      <a16:colId xmlns:a16="http://schemas.microsoft.com/office/drawing/2014/main" val="3984676267"/>
                    </a:ext>
                  </a:extLst>
                </a:gridCol>
                <a:gridCol w="1840842">
                  <a:extLst>
                    <a:ext uri="{9D8B030D-6E8A-4147-A177-3AD203B41FA5}">
                      <a16:colId xmlns:a16="http://schemas.microsoft.com/office/drawing/2014/main" val="97815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Meaning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Cranfield Score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30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Relevant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1, 2, 3, 4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4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Non-relevant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Missing or -1</a:t>
                      </a:r>
                      <a:endParaRPr lang="ar-SA" sz="1800" b="0" i="0" u="none" strike="noStrike" noProof="0" dirty="0">
                        <a:latin typeface="Grandview Displa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94377"/>
                  </a:ext>
                </a:extLst>
              </a:tr>
            </a:tbl>
          </a:graphicData>
        </a:graphic>
      </p:graphicFrame>
      <p:graphicFrame>
        <p:nvGraphicFramePr>
          <p:cNvPr id="8" name="جدول 7">
            <a:extLst>
              <a:ext uri="{FF2B5EF4-FFF2-40B4-BE49-F238E27FC236}">
                <a16:creationId xmlns:a16="http://schemas.microsoft.com/office/drawing/2014/main" id="{CF3340AD-0F02-29A7-39BE-484BB0751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034703"/>
              </p:ext>
            </p:extLst>
          </p:nvPr>
        </p:nvGraphicFramePr>
        <p:xfrm>
          <a:off x="8423204" y="3732835"/>
          <a:ext cx="3468626" cy="2494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34313">
                  <a:extLst>
                    <a:ext uri="{9D8B030D-6E8A-4147-A177-3AD203B41FA5}">
                      <a16:colId xmlns:a16="http://schemas.microsoft.com/office/drawing/2014/main" val="1252478630"/>
                    </a:ext>
                  </a:extLst>
                </a:gridCol>
                <a:gridCol w="1734313">
                  <a:extLst>
                    <a:ext uri="{9D8B030D-6E8A-4147-A177-3AD203B41FA5}">
                      <a16:colId xmlns:a16="http://schemas.microsoft.com/office/drawing/2014/main" val="2340427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Converted Score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ar-SA" sz="1800" b="0" i="0" u="none" strike="noStrike" noProof="0">
                          <a:latin typeface="Grandview Display"/>
                        </a:rPr>
                        <a:t>Original Score</a:t>
                      </a:r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11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39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59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17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/>
                        <a:t>Missing or -1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113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63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FFA8468-3F63-3CA2-D68F-DAA6CD46E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RAG Extension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EE13D2A-2AB0-BA54-FEFA-53209679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5" y="2559171"/>
            <a:ext cx="10363200" cy="338265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RAG stands for Retrieval-Augmented Generation.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system first retrieves the top-k relevant documents.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retrieved documents are used as context.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RAG component generates a natural-language answer based on the retrieved document snippets.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This combines classical Information Retrieval with answer generation.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3E98F3-E212-BDC0-48BE-479A6774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8FA0A-1AFB-43F9-96B8-32F128C57DED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B7CA1EC-236A-2547-6094-8C5FBC0B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064DA53-41F3-988C-A2F5-36FD7A2F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5DB4F99D-28DE-81C4-06AA-8E6CC011C629}"/>
              </a:ext>
            </a:extLst>
          </p:cNvPr>
          <p:cNvSpPr txBox="1"/>
          <p:nvPr/>
        </p:nvSpPr>
        <p:spPr>
          <a:xfrm>
            <a:off x="7248486" y="796838"/>
            <a:ext cx="402191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Query: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what similarity laws must be obeyed when constructing aeroelastic models of heated high speed aircraft.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RAG Output: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Based on the retrieved documents, the answer can be summarized using the information found in the top retrieved documents.</a:t>
            </a: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485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7BE59E8-6064-0E35-E092-90548372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>
                <a:ea typeface="+mj-lt"/>
                <a:cs typeface="+mj-lt"/>
              </a:rPr>
              <a:t>Results and Conclusion</a:t>
            </a:r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078B519-42AE-45E9-48B3-4F57496C4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ar-SA">
                <a:ea typeface="+mn-lt"/>
                <a:cs typeface="+mn-lt"/>
              </a:rPr>
              <a:t>• The system successfully implements the classical IR pipeline.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Documents and queries are preprocessed using the same steps.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TF-IDF and cosine similarity are used to retrieve and rank documents.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MAP and NDCG@10 are used to evaluate the retrieval performance.</a:t>
            </a:r>
            <a:endParaRPr lang="ar-SA"/>
          </a:p>
          <a:p>
            <a:endParaRPr lang="ar-SA"/>
          </a:p>
          <a:p>
            <a:r>
              <a:rPr lang="ar-SA">
                <a:ea typeface="+mn-lt"/>
                <a:cs typeface="+mn-lt"/>
              </a:rPr>
              <a:t>• The RAG extension generates an answer using the top retrieved documents.</a:t>
            </a:r>
            <a:endParaRPr lang="ar-SA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0B5BBC5-2C05-269A-A4E4-7746C58B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0645B-6600-49F6-A225-0231B479E7C3}" type="datetime1">
              <a:t>16/11/1447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D39353A-D8CA-E7E8-3A3A-C216F9D3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6409C14-E4E9-BCDF-35D4-9259F9EE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5225A279-E217-8D04-172B-E1E25DF187FE}"/>
              </a:ext>
            </a:extLst>
          </p:cNvPr>
          <p:cNvSpPr txBox="1"/>
          <p:nvPr/>
        </p:nvSpPr>
        <p:spPr>
          <a:xfrm>
            <a:off x="9015530" y="1110572"/>
            <a:ext cx="25065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r-SA">
                <a:ea typeface="+mn-lt"/>
                <a:cs typeface="+mn-lt"/>
              </a:rPr>
              <a:t>Evaluation Results:</a:t>
            </a:r>
            <a:endParaRPr lang="ar-SA"/>
          </a:p>
          <a:p>
            <a:pPr algn="l"/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MAP: 0.0071</a:t>
            </a:r>
            <a:endParaRPr lang="ar-SA"/>
          </a:p>
          <a:p>
            <a:pPr algn="l"/>
            <a:r>
              <a:rPr lang="ar-SA">
                <a:ea typeface="+mn-lt"/>
                <a:cs typeface="+mn-lt"/>
              </a:rPr>
              <a:t>NDCG@10: 0.0097</a:t>
            </a: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007396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شاشة عريضة</PresentationFormat>
  <Paragraphs>0</Paragraphs>
  <Slides>10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1" baseType="lpstr">
      <vt:lpstr>DashVTI</vt:lpstr>
      <vt:lpstr>Mini Search Engine with RAG Extension</vt:lpstr>
      <vt:lpstr>Project Objective</vt:lpstr>
      <vt:lpstr>Cranfield Dataset</vt:lpstr>
      <vt:lpstr>System Architecture</vt:lpstr>
      <vt:lpstr>Text Preprocessing</vt:lpstr>
      <vt:lpstr>Inverted Index and TF-IDF Weighting</vt:lpstr>
      <vt:lpstr>Cosine Similarity Ranking</vt:lpstr>
      <vt:lpstr>Evaluation: MAP and NDCG@10</vt:lpstr>
      <vt:lpstr>RAG Extension</vt:lpstr>
      <vt:lpstr>Results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223</cp:revision>
  <dcterms:created xsi:type="dcterms:W3CDTF">2026-05-02T23:04:20Z</dcterms:created>
  <dcterms:modified xsi:type="dcterms:W3CDTF">2026-05-02T23:59:18Z</dcterms:modified>
</cp:coreProperties>
</file>